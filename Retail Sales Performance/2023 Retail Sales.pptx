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S Gold" charset="1" panose="02000506050000020004"/>
      <p:regular r:id="rId13"/>
    </p:embeddedFont>
    <p:embeddedFont>
      <p:font typeface="HS Gold Bold" charset="1" panose="02000506050000020004"/>
      <p:regular r:id="rId14"/>
    </p:embeddedFont>
    <p:embeddedFont>
      <p:font typeface="Inter Light" charset="1" panose="02000503000000020004"/>
      <p:regular r:id="rId15"/>
    </p:embeddedFont>
    <p:embeddedFont>
      <p:font typeface="Inter" charset="1" panose="020B050203000000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C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45413" cy="442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2633335" y="2165776"/>
            <a:ext cx="10730064" cy="5955448"/>
            <a:chOff x="0" y="0"/>
            <a:chExt cx="3845413" cy="2134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2134298"/>
            </a:xfrm>
            <a:custGeom>
              <a:avLst/>
              <a:gdLst/>
              <a:ahLst/>
              <a:cxnLst/>
              <a:rect r="r" b="b" t="t" l="l"/>
              <a:pathLst>
                <a:path h="213429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845413" cy="2191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79240" y="4177982"/>
            <a:ext cx="10573314" cy="293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7"/>
              </a:lnSpc>
            </a:pPr>
          </a:p>
          <a:p>
            <a:pPr algn="r">
              <a:lnSpc>
                <a:spcPts val="4417"/>
              </a:lnSpc>
            </a:pPr>
            <a:r>
              <a:rPr lang="en-US" sz="5197" spc="-38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2023 Retail Sales Performance Dashboard.</a:t>
            </a:r>
          </a:p>
          <a:p>
            <a:pPr algn="r">
              <a:lnSpc>
                <a:spcPts val="4417"/>
              </a:lnSpc>
            </a:pPr>
          </a:p>
          <a:p>
            <a:pPr algn="r">
              <a:lnSpc>
                <a:spcPts val="441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37212" y="8316325"/>
            <a:ext cx="6213575" cy="68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BY AFRAH ALANAZI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2382" y="955252"/>
            <a:ext cx="2850172" cy="65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-72">
                <a:solidFill>
                  <a:srgbClr val="403E3E"/>
                </a:solidFill>
                <a:latin typeface="HS Gold"/>
                <a:ea typeface="HS Gold"/>
                <a:cs typeface="HS Gold"/>
                <a:sym typeface="HS Gold"/>
              </a:rPr>
              <a:t>FEB 2026</a:t>
            </a:r>
          </a:p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941270" y="6677263"/>
            <a:ext cx="7461112" cy="4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spc="-91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TRANSFORMING RAW DATA INTO STRATEGIC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C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653131" y="2318731"/>
            <a:ext cx="10730064" cy="5649539"/>
            <a:chOff x="0" y="0"/>
            <a:chExt cx="3845413" cy="202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2024667"/>
            </a:xfrm>
            <a:custGeom>
              <a:avLst/>
              <a:gdLst/>
              <a:ahLst/>
              <a:cxnLst/>
              <a:rect r="r" b="b" t="t" l="l"/>
              <a:pathLst>
                <a:path h="2024667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024667"/>
                  </a:lnTo>
                  <a:lnTo>
                    <a:pt x="0" y="2024667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45413" cy="2081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845413" cy="442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639798"/>
            <a:ext cx="11690503" cy="78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The Challenge &amp; 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733958"/>
            <a:ext cx="3161665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675" y="7932822"/>
            <a:ext cx="3475716" cy="44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946032"/>
            <a:ext cx="3161665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OBJECTIVES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028700" y="5550499"/>
            <a:ext cx="10927493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719203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2928" y="5696941"/>
            <a:ext cx="4202955" cy="194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Dealing with a massive dataset of over 25,000 transactions that lacked clear visibility into true profitability.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86931" y="5696941"/>
            <a:ext cx="4169263" cy="241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To build a centralized, interactive tool that monitors financial health, sales rep performance, and distribution efficiency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C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67400" y="-6899948"/>
            <a:ext cx="4044591" cy="17622955"/>
            <a:chOff x="0" y="0"/>
            <a:chExt cx="1449490" cy="6315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9490" cy="6315670"/>
            </a:xfrm>
            <a:custGeom>
              <a:avLst/>
              <a:gdLst/>
              <a:ahLst/>
              <a:cxnLst/>
              <a:rect r="r" b="b" t="t" l="l"/>
              <a:pathLst>
                <a:path h="6315670" w="1449490">
                  <a:moveTo>
                    <a:pt x="0" y="0"/>
                  </a:moveTo>
                  <a:lnTo>
                    <a:pt x="1449490" y="0"/>
                  </a:lnTo>
                  <a:lnTo>
                    <a:pt x="1449490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49490" cy="6372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845413" cy="442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389421"/>
            <a:ext cx="14463490" cy="138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4760"/>
              </a:lnSpc>
              <a:buFont typeface="Arial"/>
              <a:buChar char="•"/>
            </a:pPr>
            <a:r>
              <a:rPr lang="en-US" sz="5600" spc="-420">
                <a:solidFill>
                  <a:srgbClr val="403E3E"/>
                </a:solidFill>
                <a:latin typeface="HS Gold"/>
                <a:ea typeface="HS Gold"/>
                <a:cs typeface="HS Gold"/>
                <a:sym typeface="HS Gold"/>
              </a:rPr>
              <a:t>Data Engineering Methodology</a:t>
            </a:r>
          </a:p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53058"/>
            <a:ext cx="3588512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DATA HYGIENE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349620"/>
            <a:ext cx="4797028" cy="29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286687" y="5153058"/>
            <a:ext cx="3588512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ADVANCED METRICS: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73269" y="5153058"/>
            <a:ext cx="3588512" cy="54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403E3E"/>
                </a:solidFill>
                <a:latin typeface="HS Gold"/>
                <a:ea typeface="HS Gold"/>
                <a:cs typeface="HS Gold"/>
                <a:sym typeface="HS Gold"/>
              </a:rPr>
              <a:t>AGGREGATION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028700" y="6026749"/>
            <a:ext cx="15313002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5400000">
            <a:off x="15018000" y="3173461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8"/>
                </a:lnTo>
                <a:lnTo>
                  <a:pt x="0" y="1520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3441" y="6209312"/>
            <a:ext cx="4379383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Executed a rigorous cleaning process to eliminate duplicates and handle null values.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96918" y="6209312"/>
            <a:ext cx="4941650" cy="241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Developed the "Net Profit After Discount" formula to move beyond gross sales and reflect actual earnings.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633969" y="6209312"/>
            <a:ext cx="4327813" cy="194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Leveraged Pivot Tables to condense thousands of rows into high-level strategic summaries.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C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45413" cy="442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92606" y="3172238"/>
            <a:ext cx="5308790" cy="64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VISUAL INTERFACE: A PROFESSIONAL, BLUE-THEMED INTERACTIVE DASHBOARD FEATURING SYNCHRONIZED CHARTS.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EXECUTIVE SCORECARDS: IMMEDIATE VISIBILITY INTO $59.69M TOTAL NET R</a:t>
            </a: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evenue and 25,355 Units Sold.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20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Top Talent Tracking: Automated identification of the leading sales performer (David).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08450" y="1652075"/>
            <a:ext cx="9133740" cy="78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Das</a:t>
            </a:r>
            <a:r>
              <a:rPr lang="en-US" sz="5600" spc="-420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hboard Solutio</a:t>
            </a:r>
            <a:r>
              <a:rPr lang="en-US" sz="5600" spc="-420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 Overview</a:t>
            </a:r>
          </a:p>
        </p:txBody>
      </p:sp>
      <p:sp>
        <p:nvSpPr>
          <p:cNvPr name="AutoShape 7" id="7"/>
          <p:cNvSpPr/>
          <p:nvPr/>
        </p:nvSpPr>
        <p:spPr>
          <a:xfrm>
            <a:off x="3769308" y="2554190"/>
            <a:ext cx="1224529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5400000">
            <a:off x="-4204353" y="3779569"/>
            <a:ext cx="10730064" cy="2727862"/>
            <a:chOff x="0" y="0"/>
            <a:chExt cx="3845413" cy="9776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413" cy="977604"/>
            </a:xfrm>
            <a:custGeom>
              <a:avLst/>
              <a:gdLst/>
              <a:ahLst/>
              <a:cxnLst/>
              <a:rect r="r" b="b" t="t" l="l"/>
              <a:pathLst>
                <a:path h="97760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977604"/>
                  </a:lnTo>
                  <a:lnTo>
                    <a:pt x="0" y="977604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845413" cy="1034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5042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11989" y="3120885"/>
            <a:ext cx="9147311" cy="6717706"/>
          </a:xfrm>
          <a:custGeom>
            <a:avLst/>
            <a:gdLst/>
            <a:ahLst/>
            <a:cxnLst/>
            <a:rect r="r" b="b" t="t" l="l"/>
            <a:pathLst>
              <a:path h="6717706" w="9147311">
                <a:moveTo>
                  <a:pt x="0" y="0"/>
                </a:moveTo>
                <a:lnTo>
                  <a:pt x="9147311" y="0"/>
                </a:lnTo>
                <a:lnTo>
                  <a:pt x="9147311" y="6717705"/>
                </a:lnTo>
                <a:lnTo>
                  <a:pt x="0" y="671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2" r="0" b="-72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B5C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45413" cy="442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3093500"/>
            <a:ext cx="1522385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28700" y="8330590"/>
            <a:ext cx="1522385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02058" y="1665411"/>
            <a:ext cx="2932465" cy="95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HS Gold Bold"/>
                <a:ea typeface="HS Gold Bold"/>
                <a:cs typeface="HS Gold Bold"/>
                <a:sym typeface="HS Gold Bold"/>
              </a:rPr>
              <a:t>Key Business Insights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60212"/>
            <a:ext cx="14289056" cy="415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Market Share: Clothing is the dominant category at 27.3%, followed closely by Electronics at 24%.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Channel Strategy: Online channels slightly outperform Retail (50.8% vs. 49.2%), suggesting a shift toward digital-first investment.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Regional Dominance: The North and East regions are the most profitable hubs for high-quantity bulk orders.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C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43882" y="5108398"/>
            <a:ext cx="8779401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843882" y="4310907"/>
            <a:ext cx="4071034" cy="4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DYNAMIC FILTERING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43882" y="5389386"/>
            <a:ext cx="4071034" cy="194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pc="-5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Integ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r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at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Sl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i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cer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f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or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R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gi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,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Ch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nel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,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gm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,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Q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ua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tit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y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ll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ow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ma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g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rs 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"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drill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w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"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int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spe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ci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fic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dat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52249" y="4310907"/>
            <a:ext cx="4071034" cy="4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-209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USER EXPERIENCE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2249" y="5389386"/>
            <a:ext cx="4071034" cy="194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pc="-5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esi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gn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f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or non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-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tec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hn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ica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l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sta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k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eh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ld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er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 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f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in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d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a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nswe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rs 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compl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x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b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usines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 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que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st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i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s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i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 se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c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o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nds</a:t>
            </a:r>
            <a:r>
              <a:rPr lang="en-US" sz="2699" spc="-59" strike="noStrike" u="none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3882" y="2863082"/>
            <a:ext cx="8026554" cy="125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5600" spc="-4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Interactivity &amp; Stakeholder Empowerment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45413" cy="1731500"/>
            </a:xfrm>
            <a:custGeom>
              <a:avLst/>
              <a:gdLst/>
              <a:ahLst/>
              <a:cxnLst/>
              <a:rect r="r" b="b" t="t" l="l"/>
              <a:pathLst>
                <a:path h="1731500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4683E8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11128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8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47646" y="1768999"/>
            <a:ext cx="9500737" cy="65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lus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5600" spc="-42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&amp; Next Steps</a:t>
            </a:r>
          </a:p>
        </p:txBody>
      </p:sp>
      <p:sp>
        <p:nvSpPr>
          <p:cNvPr name="AutoShape 6" id="6"/>
          <p:cNvSpPr/>
          <p:nvPr/>
        </p:nvSpPr>
        <p:spPr>
          <a:xfrm>
            <a:off x="6743474" y="8086959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743474" y="3337131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6743474" y="5712045"/>
            <a:ext cx="9504908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5400000">
            <a:off x="-2621133" y="2153574"/>
            <a:ext cx="10730064" cy="5979852"/>
            <a:chOff x="0" y="0"/>
            <a:chExt cx="3845413" cy="21430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45413" cy="2143044"/>
            </a:xfrm>
            <a:custGeom>
              <a:avLst/>
              <a:gdLst/>
              <a:ahLst/>
              <a:cxnLst/>
              <a:rect r="r" b="b" t="t" l="l"/>
              <a:pathLst>
                <a:path h="2143044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B5CCF4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235230" y="1031452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47646" y="3670837"/>
            <a:ext cx="9500737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HS Gold Bold"/>
                <a:ea typeface="HS Gold Bold"/>
                <a:cs typeface="HS Gold Bold"/>
                <a:sym typeface="HS Gold Bold"/>
              </a:rPr>
              <a:t>Impact</a:t>
            </a:r>
            <a:r>
              <a:rPr lang="en-US" sz="269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: This dashboard reduces reporting time and enables data-driven decision-making for the 2024 fiscal year.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9990" y="6050182"/>
            <a:ext cx="9718392" cy="98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HS Gold Bold"/>
                <a:ea typeface="HS Gold Bold"/>
                <a:cs typeface="HS Gold Bold"/>
                <a:sym typeface="HS Gold Bold"/>
              </a:rPr>
              <a:t>Future Scope</a:t>
            </a:r>
            <a:r>
              <a:rPr lang="en-US" sz="2699">
                <a:solidFill>
                  <a:srgbClr val="000000"/>
                </a:solidFill>
                <a:latin typeface="HS Gold"/>
                <a:ea typeface="HS Gold"/>
                <a:cs typeface="HS Gold"/>
                <a:sym typeface="HS Gold"/>
              </a:rPr>
              <a:t>: Potential integration with SQL for automated data fetching and expansion into predictive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DAHBafTx0Q4</dc:identifier>
  <dcterms:modified xsi:type="dcterms:W3CDTF">2011-08-01T06:04:30Z</dcterms:modified>
  <cp:revision>1</cp:revision>
  <dc:title>قم بتضمين العنوان والعنوان الفرعي والتاريخ: التأكد من أن العرض التقديمي لمجموعة الشرائح يحتوي على عنوان وعنوان فرعي وتاريخ يضمن أن جمهورك يعرف بالضبط ما تقدمه ومتى جاءت المعلومات.</dc:title>
</cp:coreProperties>
</file>